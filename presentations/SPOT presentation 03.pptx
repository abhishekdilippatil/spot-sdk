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3" r:id="rId4"/>
    <p:sldId id="262" r:id="rId5"/>
    <p:sldId id="264" r:id="rId6"/>
    <p:sldId id="266" r:id="rId7"/>
    <p:sldId id="259" r:id="rId8"/>
    <p:sldId id="265" r:id="rId9"/>
    <p:sldId id="268" r:id="rId10"/>
    <p:sldId id="269" r:id="rId11"/>
    <p:sldId id="270" r:id="rId12"/>
    <p:sldId id="267" r:id="rId13"/>
    <p:sldId id="260" r:id="rId14"/>
    <p:sldId id="25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33" d="100"/>
          <a:sy n="133" d="100"/>
        </p:scale>
        <p:origin x="30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1BFA68-0E53-47D6-BFFB-97AF61BAF476}" type="doc">
      <dgm:prSet loTypeId="urn:microsoft.com/office/officeart/2005/8/layout/process1" loCatId="process" qsTypeId="urn:microsoft.com/office/officeart/2005/8/quickstyle/simple1" qsCatId="simple" csTypeId="urn:microsoft.com/office/officeart/2005/8/colors/accent1_2" csCatId="accent1" phldr="1"/>
      <dgm:spPr/>
    </dgm:pt>
    <dgm:pt modelId="{9BD00F0B-2080-4C4E-9141-59019FF50A21}">
      <dgm:prSet phldrT="[Text]"/>
      <dgm:spPr/>
      <dgm:t>
        <a:bodyPr/>
        <a:lstStyle/>
        <a:p>
          <a:r>
            <a:rPr lang="en-IN" dirty="0"/>
            <a:t>User program</a:t>
          </a:r>
        </a:p>
      </dgm:t>
    </dgm:pt>
    <dgm:pt modelId="{52FB2E43-3BCD-438A-B31F-68BEDFEE48CE}" type="parTrans" cxnId="{FF968922-98D9-4E9A-8623-F3188565C971}">
      <dgm:prSet/>
      <dgm:spPr/>
      <dgm:t>
        <a:bodyPr/>
        <a:lstStyle/>
        <a:p>
          <a:endParaRPr lang="en-IN"/>
        </a:p>
      </dgm:t>
    </dgm:pt>
    <dgm:pt modelId="{09CFBE8A-FCBA-4B35-A7EE-5DFB26195E40}" type="sibTrans" cxnId="{FF968922-98D9-4E9A-8623-F3188565C971}">
      <dgm:prSet/>
      <dgm:spPr/>
      <dgm:t>
        <a:bodyPr/>
        <a:lstStyle/>
        <a:p>
          <a:endParaRPr lang="en-IN"/>
        </a:p>
      </dgm:t>
    </dgm:pt>
    <dgm:pt modelId="{AB0B79E5-3E17-4CBF-86FE-46EA6103CB10}">
      <dgm:prSet phldrT="[Text]"/>
      <dgm:spPr/>
      <dgm:t>
        <a:bodyPr/>
        <a:lstStyle/>
        <a:p>
          <a:r>
            <a:rPr lang="en-IN" dirty="0"/>
            <a:t>SDK python files</a:t>
          </a:r>
        </a:p>
      </dgm:t>
    </dgm:pt>
    <dgm:pt modelId="{F61234B9-654B-4F83-B9F8-BD923AC6211B}" type="parTrans" cxnId="{D6E7BBBB-D763-4FC8-9B31-B84A07779C22}">
      <dgm:prSet/>
      <dgm:spPr/>
      <dgm:t>
        <a:bodyPr/>
        <a:lstStyle/>
        <a:p>
          <a:endParaRPr lang="en-IN"/>
        </a:p>
      </dgm:t>
    </dgm:pt>
    <dgm:pt modelId="{08AF8252-F66A-4CD7-B5A3-01474A848147}" type="sibTrans" cxnId="{D6E7BBBB-D763-4FC8-9B31-B84A07779C22}">
      <dgm:prSet/>
      <dgm:spPr/>
      <dgm:t>
        <a:bodyPr/>
        <a:lstStyle/>
        <a:p>
          <a:endParaRPr lang="en-IN"/>
        </a:p>
      </dgm:t>
    </dgm:pt>
    <dgm:pt modelId="{62E4FC5E-138F-4501-BF17-CF45EF17C28D}">
      <dgm:prSet phldrT="[Text]"/>
      <dgm:spPr/>
      <dgm:t>
        <a:bodyPr/>
        <a:lstStyle/>
        <a:p>
          <a:r>
            <a:rPr lang="en-IN" dirty="0"/>
            <a:t>“…_pb2.py” files in the python package generated using the </a:t>
          </a:r>
          <a:r>
            <a:rPr lang="en-IN" dirty="0" err="1"/>
            <a:t>protobuf</a:t>
          </a:r>
          <a:r>
            <a:rPr lang="en-IN" dirty="0"/>
            <a:t> complier</a:t>
          </a:r>
        </a:p>
      </dgm:t>
    </dgm:pt>
    <dgm:pt modelId="{6F2A230F-735D-444C-8E36-AEB2E9FAE2DA}" type="parTrans" cxnId="{303403C1-0626-4236-A54E-7500F4F4E533}">
      <dgm:prSet/>
      <dgm:spPr/>
      <dgm:t>
        <a:bodyPr/>
        <a:lstStyle/>
        <a:p>
          <a:endParaRPr lang="en-IN"/>
        </a:p>
      </dgm:t>
    </dgm:pt>
    <dgm:pt modelId="{38027FBE-F681-4E5D-A886-0EBA21CE1D15}" type="sibTrans" cxnId="{303403C1-0626-4236-A54E-7500F4F4E533}">
      <dgm:prSet/>
      <dgm:spPr/>
      <dgm:t>
        <a:bodyPr/>
        <a:lstStyle/>
        <a:p>
          <a:endParaRPr lang="en-IN"/>
        </a:p>
      </dgm:t>
    </dgm:pt>
    <dgm:pt modelId="{2027D88A-97E0-4084-B675-49E1F7D7B70D}">
      <dgm:prSet phldrT="[Text]"/>
      <dgm:spPr/>
      <dgm:t>
        <a:bodyPr/>
        <a:lstStyle/>
        <a:p>
          <a:r>
            <a:rPr lang="en-IN" dirty="0"/>
            <a:t>Sending and receiving data from SPOT</a:t>
          </a:r>
        </a:p>
      </dgm:t>
    </dgm:pt>
    <dgm:pt modelId="{BFF0288A-8648-4EA0-B8BA-74D4446AFACF}" type="parTrans" cxnId="{5EAC138A-094C-41D2-9298-4D2D04E5BCEA}">
      <dgm:prSet/>
      <dgm:spPr/>
      <dgm:t>
        <a:bodyPr/>
        <a:lstStyle/>
        <a:p>
          <a:endParaRPr lang="en-IN"/>
        </a:p>
      </dgm:t>
    </dgm:pt>
    <dgm:pt modelId="{C17E1E36-A4AF-47FD-914C-25B08B46426F}" type="sibTrans" cxnId="{5EAC138A-094C-41D2-9298-4D2D04E5BCEA}">
      <dgm:prSet/>
      <dgm:spPr/>
      <dgm:t>
        <a:bodyPr/>
        <a:lstStyle/>
        <a:p>
          <a:endParaRPr lang="en-IN"/>
        </a:p>
      </dgm:t>
    </dgm:pt>
    <dgm:pt modelId="{56733FB1-8B33-4AA8-B96A-D682CD328E97}" type="pres">
      <dgm:prSet presAssocID="{D51BFA68-0E53-47D6-BFFB-97AF61BAF476}" presName="Name0" presStyleCnt="0">
        <dgm:presLayoutVars>
          <dgm:dir/>
          <dgm:resizeHandles val="exact"/>
        </dgm:presLayoutVars>
      </dgm:prSet>
      <dgm:spPr/>
    </dgm:pt>
    <dgm:pt modelId="{0931F8D2-B092-4ACC-A150-F3696181F472}" type="pres">
      <dgm:prSet presAssocID="{9BD00F0B-2080-4C4E-9141-59019FF50A21}" presName="node" presStyleLbl="node1" presStyleIdx="0" presStyleCnt="4">
        <dgm:presLayoutVars>
          <dgm:bulletEnabled val="1"/>
        </dgm:presLayoutVars>
      </dgm:prSet>
      <dgm:spPr/>
    </dgm:pt>
    <dgm:pt modelId="{294A2A89-67B9-4834-8B55-8CE9BCF7E9A6}" type="pres">
      <dgm:prSet presAssocID="{09CFBE8A-FCBA-4B35-A7EE-5DFB26195E40}" presName="sibTrans" presStyleLbl="sibTrans2D1" presStyleIdx="0" presStyleCnt="3"/>
      <dgm:spPr/>
    </dgm:pt>
    <dgm:pt modelId="{42AE5AF5-98EA-4C29-92A1-88CEF3F313F9}" type="pres">
      <dgm:prSet presAssocID="{09CFBE8A-FCBA-4B35-A7EE-5DFB26195E40}" presName="connectorText" presStyleLbl="sibTrans2D1" presStyleIdx="0" presStyleCnt="3"/>
      <dgm:spPr/>
    </dgm:pt>
    <dgm:pt modelId="{C04B2A15-A810-4558-96E9-5702AFC35C96}" type="pres">
      <dgm:prSet presAssocID="{AB0B79E5-3E17-4CBF-86FE-46EA6103CB10}" presName="node" presStyleLbl="node1" presStyleIdx="1" presStyleCnt="4">
        <dgm:presLayoutVars>
          <dgm:bulletEnabled val="1"/>
        </dgm:presLayoutVars>
      </dgm:prSet>
      <dgm:spPr/>
    </dgm:pt>
    <dgm:pt modelId="{D36FDEEA-013D-4C69-AF95-1BD2EC82B0D5}" type="pres">
      <dgm:prSet presAssocID="{08AF8252-F66A-4CD7-B5A3-01474A848147}" presName="sibTrans" presStyleLbl="sibTrans2D1" presStyleIdx="1" presStyleCnt="3"/>
      <dgm:spPr/>
    </dgm:pt>
    <dgm:pt modelId="{19379865-3FC9-4177-9C3D-E9CF59AE479D}" type="pres">
      <dgm:prSet presAssocID="{08AF8252-F66A-4CD7-B5A3-01474A848147}" presName="connectorText" presStyleLbl="sibTrans2D1" presStyleIdx="1" presStyleCnt="3"/>
      <dgm:spPr/>
    </dgm:pt>
    <dgm:pt modelId="{6F85F3C2-1915-4545-B462-FB282103B669}" type="pres">
      <dgm:prSet presAssocID="{62E4FC5E-138F-4501-BF17-CF45EF17C28D}" presName="node" presStyleLbl="node1" presStyleIdx="2" presStyleCnt="4">
        <dgm:presLayoutVars>
          <dgm:bulletEnabled val="1"/>
        </dgm:presLayoutVars>
      </dgm:prSet>
      <dgm:spPr/>
    </dgm:pt>
    <dgm:pt modelId="{97CB445B-8608-4581-A099-F334380AD91B}" type="pres">
      <dgm:prSet presAssocID="{38027FBE-F681-4E5D-A886-0EBA21CE1D15}" presName="sibTrans" presStyleLbl="sibTrans2D1" presStyleIdx="2" presStyleCnt="3"/>
      <dgm:spPr/>
    </dgm:pt>
    <dgm:pt modelId="{2CD4875C-0420-4D97-82A0-675E2F9ABB35}" type="pres">
      <dgm:prSet presAssocID="{38027FBE-F681-4E5D-A886-0EBA21CE1D15}" presName="connectorText" presStyleLbl="sibTrans2D1" presStyleIdx="2" presStyleCnt="3"/>
      <dgm:spPr/>
    </dgm:pt>
    <dgm:pt modelId="{D0AA0D05-1401-4E7D-9D08-1434D10EE7FC}" type="pres">
      <dgm:prSet presAssocID="{2027D88A-97E0-4084-B675-49E1F7D7B70D}" presName="node" presStyleLbl="node1" presStyleIdx="3" presStyleCnt="4">
        <dgm:presLayoutVars>
          <dgm:bulletEnabled val="1"/>
        </dgm:presLayoutVars>
      </dgm:prSet>
      <dgm:spPr/>
    </dgm:pt>
  </dgm:ptLst>
  <dgm:cxnLst>
    <dgm:cxn modelId="{34812106-47A6-45A4-B7D3-50ED0F2564A4}" type="presOf" srcId="{38027FBE-F681-4E5D-A886-0EBA21CE1D15}" destId="{97CB445B-8608-4581-A099-F334380AD91B}" srcOrd="0" destOrd="0" presId="urn:microsoft.com/office/officeart/2005/8/layout/process1"/>
    <dgm:cxn modelId="{0E6F5E19-3E22-499F-88FA-0FE9F558ECFF}" type="presOf" srcId="{2027D88A-97E0-4084-B675-49E1F7D7B70D}" destId="{D0AA0D05-1401-4E7D-9D08-1434D10EE7FC}" srcOrd="0" destOrd="0" presId="urn:microsoft.com/office/officeart/2005/8/layout/process1"/>
    <dgm:cxn modelId="{FF968922-98D9-4E9A-8623-F3188565C971}" srcId="{D51BFA68-0E53-47D6-BFFB-97AF61BAF476}" destId="{9BD00F0B-2080-4C4E-9141-59019FF50A21}" srcOrd="0" destOrd="0" parTransId="{52FB2E43-3BCD-438A-B31F-68BEDFEE48CE}" sibTransId="{09CFBE8A-FCBA-4B35-A7EE-5DFB26195E40}"/>
    <dgm:cxn modelId="{3B930838-79A8-4703-A3A3-FA9AE4274E81}" type="presOf" srcId="{9BD00F0B-2080-4C4E-9141-59019FF50A21}" destId="{0931F8D2-B092-4ACC-A150-F3696181F472}" srcOrd="0" destOrd="0" presId="urn:microsoft.com/office/officeart/2005/8/layout/process1"/>
    <dgm:cxn modelId="{F0301249-B75D-41FE-BA27-E87794D4C5A4}" type="presOf" srcId="{D51BFA68-0E53-47D6-BFFB-97AF61BAF476}" destId="{56733FB1-8B33-4AA8-B96A-D682CD328E97}" srcOrd="0" destOrd="0" presId="urn:microsoft.com/office/officeart/2005/8/layout/process1"/>
    <dgm:cxn modelId="{D16B386E-3093-4656-AA4C-628DF210A107}" type="presOf" srcId="{09CFBE8A-FCBA-4B35-A7EE-5DFB26195E40}" destId="{294A2A89-67B9-4834-8B55-8CE9BCF7E9A6}" srcOrd="0" destOrd="0" presId="urn:microsoft.com/office/officeart/2005/8/layout/process1"/>
    <dgm:cxn modelId="{D2C0CD78-DC8E-4B9E-96AB-B955FAFE288F}" type="presOf" srcId="{08AF8252-F66A-4CD7-B5A3-01474A848147}" destId="{19379865-3FC9-4177-9C3D-E9CF59AE479D}" srcOrd="1" destOrd="0" presId="urn:microsoft.com/office/officeart/2005/8/layout/process1"/>
    <dgm:cxn modelId="{5EAC138A-094C-41D2-9298-4D2D04E5BCEA}" srcId="{D51BFA68-0E53-47D6-BFFB-97AF61BAF476}" destId="{2027D88A-97E0-4084-B675-49E1F7D7B70D}" srcOrd="3" destOrd="0" parTransId="{BFF0288A-8648-4EA0-B8BA-74D4446AFACF}" sibTransId="{C17E1E36-A4AF-47FD-914C-25B08B46426F}"/>
    <dgm:cxn modelId="{0658C293-90B5-40C8-AF50-92A116576C50}" type="presOf" srcId="{AB0B79E5-3E17-4CBF-86FE-46EA6103CB10}" destId="{C04B2A15-A810-4558-96E9-5702AFC35C96}" srcOrd="0" destOrd="0" presId="urn:microsoft.com/office/officeart/2005/8/layout/process1"/>
    <dgm:cxn modelId="{6047019F-0846-4853-89A2-0A4DBE677BC8}" type="presOf" srcId="{38027FBE-F681-4E5D-A886-0EBA21CE1D15}" destId="{2CD4875C-0420-4D97-82A0-675E2F9ABB35}" srcOrd="1" destOrd="0" presId="urn:microsoft.com/office/officeart/2005/8/layout/process1"/>
    <dgm:cxn modelId="{6C0B99A8-A108-4EBD-A9FF-47B20A885CD4}" type="presOf" srcId="{62E4FC5E-138F-4501-BF17-CF45EF17C28D}" destId="{6F85F3C2-1915-4545-B462-FB282103B669}" srcOrd="0" destOrd="0" presId="urn:microsoft.com/office/officeart/2005/8/layout/process1"/>
    <dgm:cxn modelId="{D6E7BBBB-D763-4FC8-9B31-B84A07779C22}" srcId="{D51BFA68-0E53-47D6-BFFB-97AF61BAF476}" destId="{AB0B79E5-3E17-4CBF-86FE-46EA6103CB10}" srcOrd="1" destOrd="0" parTransId="{F61234B9-654B-4F83-B9F8-BD923AC6211B}" sibTransId="{08AF8252-F66A-4CD7-B5A3-01474A848147}"/>
    <dgm:cxn modelId="{303403C1-0626-4236-A54E-7500F4F4E533}" srcId="{D51BFA68-0E53-47D6-BFFB-97AF61BAF476}" destId="{62E4FC5E-138F-4501-BF17-CF45EF17C28D}" srcOrd="2" destOrd="0" parTransId="{6F2A230F-735D-444C-8E36-AEB2E9FAE2DA}" sibTransId="{38027FBE-F681-4E5D-A886-0EBA21CE1D15}"/>
    <dgm:cxn modelId="{E35D54F3-06C2-429C-9E54-C862C01AEFEB}" type="presOf" srcId="{09CFBE8A-FCBA-4B35-A7EE-5DFB26195E40}" destId="{42AE5AF5-98EA-4C29-92A1-88CEF3F313F9}" srcOrd="1" destOrd="0" presId="urn:microsoft.com/office/officeart/2005/8/layout/process1"/>
    <dgm:cxn modelId="{7DDDD3F5-BF90-4425-A734-BF533F2AACBA}" type="presOf" srcId="{08AF8252-F66A-4CD7-B5A3-01474A848147}" destId="{D36FDEEA-013D-4C69-AF95-1BD2EC82B0D5}" srcOrd="0" destOrd="0" presId="urn:microsoft.com/office/officeart/2005/8/layout/process1"/>
    <dgm:cxn modelId="{761E2522-BAE2-4258-9299-927EC2577851}" type="presParOf" srcId="{56733FB1-8B33-4AA8-B96A-D682CD328E97}" destId="{0931F8D2-B092-4ACC-A150-F3696181F472}" srcOrd="0" destOrd="0" presId="urn:microsoft.com/office/officeart/2005/8/layout/process1"/>
    <dgm:cxn modelId="{1AF71089-D1F2-403A-A5DC-A8905FB7553E}" type="presParOf" srcId="{56733FB1-8B33-4AA8-B96A-D682CD328E97}" destId="{294A2A89-67B9-4834-8B55-8CE9BCF7E9A6}" srcOrd="1" destOrd="0" presId="urn:microsoft.com/office/officeart/2005/8/layout/process1"/>
    <dgm:cxn modelId="{0928AE5E-1B8E-4A61-97EB-6BA2C4D1CCD7}" type="presParOf" srcId="{294A2A89-67B9-4834-8B55-8CE9BCF7E9A6}" destId="{42AE5AF5-98EA-4C29-92A1-88CEF3F313F9}" srcOrd="0" destOrd="0" presId="urn:microsoft.com/office/officeart/2005/8/layout/process1"/>
    <dgm:cxn modelId="{B2906DB8-894C-438D-A44B-8CAF98773263}" type="presParOf" srcId="{56733FB1-8B33-4AA8-B96A-D682CD328E97}" destId="{C04B2A15-A810-4558-96E9-5702AFC35C96}" srcOrd="2" destOrd="0" presId="urn:microsoft.com/office/officeart/2005/8/layout/process1"/>
    <dgm:cxn modelId="{1B0B8F59-3AF9-48F3-B216-DE5D46E98B48}" type="presParOf" srcId="{56733FB1-8B33-4AA8-B96A-D682CD328E97}" destId="{D36FDEEA-013D-4C69-AF95-1BD2EC82B0D5}" srcOrd="3" destOrd="0" presId="urn:microsoft.com/office/officeart/2005/8/layout/process1"/>
    <dgm:cxn modelId="{9BE2D262-0159-4FEB-AF9B-E3A461CF8AE5}" type="presParOf" srcId="{D36FDEEA-013D-4C69-AF95-1BD2EC82B0D5}" destId="{19379865-3FC9-4177-9C3D-E9CF59AE479D}" srcOrd="0" destOrd="0" presId="urn:microsoft.com/office/officeart/2005/8/layout/process1"/>
    <dgm:cxn modelId="{ADCBDAEE-DD6D-4A6A-91A5-B3F09A9FC7CD}" type="presParOf" srcId="{56733FB1-8B33-4AA8-B96A-D682CD328E97}" destId="{6F85F3C2-1915-4545-B462-FB282103B669}" srcOrd="4" destOrd="0" presId="urn:microsoft.com/office/officeart/2005/8/layout/process1"/>
    <dgm:cxn modelId="{3B550E26-834C-4F40-A20D-3C913EE2F117}" type="presParOf" srcId="{56733FB1-8B33-4AA8-B96A-D682CD328E97}" destId="{97CB445B-8608-4581-A099-F334380AD91B}" srcOrd="5" destOrd="0" presId="urn:microsoft.com/office/officeart/2005/8/layout/process1"/>
    <dgm:cxn modelId="{D9715111-A930-4BE9-A5A9-6B13D966F874}" type="presParOf" srcId="{97CB445B-8608-4581-A099-F334380AD91B}" destId="{2CD4875C-0420-4D97-82A0-675E2F9ABB35}" srcOrd="0" destOrd="0" presId="urn:microsoft.com/office/officeart/2005/8/layout/process1"/>
    <dgm:cxn modelId="{D7CFDEFA-3BCF-414C-928C-9481DD2FFECD}" type="presParOf" srcId="{56733FB1-8B33-4AA8-B96A-D682CD328E97}" destId="{D0AA0D05-1401-4E7D-9D08-1434D10EE7FC}"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31F8D2-B092-4ACC-A150-F3696181F472}">
      <dsp:nvSpPr>
        <dsp:cNvPr id="0" name=""/>
        <dsp:cNvSpPr/>
      </dsp:nvSpPr>
      <dsp:spPr>
        <a:xfrm>
          <a:off x="4621" y="1427469"/>
          <a:ext cx="2020453" cy="14963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User program</a:t>
          </a:r>
        </a:p>
      </dsp:txBody>
      <dsp:txXfrm>
        <a:off x="48449" y="1471297"/>
        <a:ext cx="1932797" cy="1408742"/>
      </dsp:txXfrm>
    </dsp:sp>
    <dsp:sp modelId="{294A2A89-67B9-4834-8B55-8CE9BCF7E9A6}">
      <dsp:nvSpPr>
        <dsp:cNvPr id="0" name=""/>
        <dsp:cNvSpPr/>
      </dsp:nvSpPr>
      <dsp:spPr>
        <a:xfrm>
          <a:off x="222711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2227119" y="2025346"/>
        <a:ext cx="299835" cy="300644"/>
      </dsp:txXfrm>
    </dsp:sp>
    <dsp:sp modelId="{C04B2A15-A810-4558-96E9-5702AFC35C96}">
      <dsp:nvSpPr>
        <dsp:cNvPr id="0" name=""/>
        <dsp:cNvSpPr/>
      </dsp:nvSpPr>
      <dsp:spPr>
        <a:xfrm>
          <a:off x="2833255" y="1427469"/>
          <a:ext cx="2020453" cy="14963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SDK python files</a:t>
          </a:r>
        </a:p>
      </dsp:txBody>
      <dsp:txXfrm>
        <a:off x="2877083" y="1471297"/>
        <a:ext cx="1932797" cy="1408742"/>
      </dsp:txXfrm>
    </dsp:sp>
    <dsp:sp modelId="{D36FDEEA-013D-4C69-AF95-1BD2EC82B0D5}">
      <dsp:nvSpPr>
        <dsp:cNvPr id="0" name=""/>
        <dsp:cNvSpPr/>
      </dsp:nvSpPr>
      <dsp:spPr>
        <a:xfrm>
          <a:off x="5055754"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5055754" y="2025346"/>
        <a:ext cx="299835" cy="300644"/>
      </dsp:txXfrm>
    </dsp:sp>
    <dsp:sp modelId="{6F85F3C2-1915-4545-B462-FB282103B669}">
      <dsp:nvSpPr>
        <dsp:cNvPr id="0" name=""/>
        <dsp:cNvSpPr/>
      </dsp:nvSpPr>
      <dsp:spPr>
        <a:xfrm>
          <a:off x="5661890" y="1427469"/>
          <a:ext cx="2020453" cy="14963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“…_pb2.py” files in the python package generated using the </a:t>
          </a:r>
          <a:r>
            <a:rPr lang="en-IN" sz="1800" kern="1200" dirty="0" err="1"/>
            <a:t>protobuf</a:t>
          </a:r>
          <a:r>
            <a:rPr lang="en-IN" sz="1800" kern="1200" dirty="0"/>
            <a:t> complier</a:t>
          </a:r>
        </a:p>
      </dsp:txBody>
      <dsp:txXfrm>
        <a:off x="5705718" y="1471297"/>
        <a:ext cx="1932797" cy="1408742"/>
      </dsp:txXfrm>
    </dsp:sp>
    <dsp:sp modelId="{97CB445B-8608-4581-A099-F334380AD91B}">
      <dsp:nvSpPr>
        <dsp:cNvPr id="0" name=""/>
        <dsp:cNvSpPr/>
      </dsp:nvSpPr>
      <dsp:spPr>
        <a:xfrm>
          <a:off x="788438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7884389" y="2025346"/>
        <a:ext cx="299835" cy="300644"/>
      </dsp:txXfrm>
    </dsp:sp>
    <dsp:sp modelId="{D0AA0D05-1401-4E7D-9D08-1434D10EE7FC}">
      <dsp:nvSpPr>
        <dsp:cNvPr id="0" name=""/>
        <dsp:cNvSpPr/>
      </dsp:nvSpPr>
      <dsp:spPr>
        <a:xfrm>
          <a:off x="8490525" y="1427469"/>
          <a:ext cx="2020453" cy="149639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Sending and receiving data from SPOT</a:t>
          </a:r>
        </a:p>
      </dsp:txBody>
      <dsp:txXfrm>
        <a:off x="8534353" y="1471297"/>
        <a:ext cx="1932797" cy="140874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203B2-DAFC-40C1-A27A-67E9AB3C85AF}" type="datetimeFigureOut">
              <a:rPr lang="en-IN" smtClean="0"/>
              <a:t>16-06-25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EE337-7E0F-4DF3-B0FC-E697C9A8F3FC}" type="slidenum">
              <a:rPr lang="en-IN" smtClean="0"/>
              <a:t>‹#›</a:t>
            </a:fld>
            <a:endParaRPr lang="en-IN"/>
          </a:p>
        </p:txBody>
      </p:sp>
    </p:spTree>
    <p:extLst>
      <p:ext uri="{BB962C8B-B14F-4D97-AF65-F5344CB8AC3E}">
        <p14:creationId xmlns:p14="http://schemas.microsoft.com/office/powerpoint/2010/main" val="3175831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32072-6555-DD15-DD43-8941CD13D5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312EC093-18F7-34DD-0934-1CA05D0DD6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1155ED10-F223-7726-2C15-76C2CF0653F9}"/>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50511A2C-6F1D-7C4D-2F46-97A6C1483B0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CA4438F-4691-3E7D-7F20-253E385EEC6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150244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EE61-CAB4-6BCE-6B2A-2791F1638CF5}"/>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1DDA98E9-2D50-2A9B-4CE2-AFF80FA90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42125BF-9817-BFAF-2B87-18D856AD1927}"/>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0DC13B8C-A575-8E3D-DAD1-159972DE542A}"/>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96DF0A95-49B4-898C-E4E7-AAEC9AA8C32B}"/>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772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0FC2-B5E9-80C7-AF80-BE73078A25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847C425E-4490-54DB-2FD2-EEF438026A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7DCC1B-7634-45A6-8C2D-6ECB58C6CCA2}"/>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4FDF2F6F-3F10-DFCB-CD73-3D58A8EF7C5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44BBB958-9D2D-62F2-9E2E-DEE8BC035C92}"/>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18884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1DE1-0C22-8361-3C1B-3D82B6D888A0}"/>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FFDE4E6F-EDFC-108B-CE62-FC3EE99E5E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F6F7EAF1-2227-D2BF-E48C-1FAE3265C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792C5A60-8449-8B46-ED11-8A6A6886455E}"/>
              </a:ext>
            </a:extLst>
          </p:cNvPr>
          <p:cNvSpPr>
            <a:spLocks noGrp="1"/>
          </p:cNvSpPr>
          <p:nvPr>
            <p:ph type="dt" sz="half" idx="10"/>
          </p:nvPr>
        </p:nvSpPr>
        <p:spPr/>
        <p:txBody>
          <a:bodyPr/>
          <a:lstStyle/>
          <a:p>
            <a:r>
              <a:rPr lang="en-US"/>
              <a:t>16.06.2025</a:t>
            </a:r>
            <a:endParaRPr lang="de-DE"/>
          </a:p>
        </p:txBody>
      </p:sp>
      <p:sp>
        <p:nvSpPr>
          <p:cNvPr id="6" name="Footer Placeholder 5">
            <a:extLst>
              <a:ext uri="{FF2B5EF4-FFF2-40B4-BE49-F238E27FC236}">
                <a16:creationId xmlns:a16="http://schemas.microsoft.com/office/drawing/2014/main" id="{E54A1F27-CA57-9D16-E8DE-774FC3045EC0}"/>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7420AAEE-A569-2F62-2955-6B1C2BCBCC7C}"/>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4258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5923-C524-0962-EADB-169858EDBAA3}"/>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44B26695-CA5E-E05D-13EF-F53E1ED0E1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03B817-2194-D040-795E-D968387D55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3055EA3-F584-AFFF-5301-59BDEDB6A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908F3-B32E-275C-6EE2-A0E6947DF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ED374B4C-499E-8A45-58FD-3FB14941998E}"/>
              </a:ext>
            </a:extLst>
          </p:cNvPr>
          <p:cNvSpPr>
            <a:spLocks noGrp="1"/>
          </p:cNvSpPr>
          <p:nvPr>
            <p:ph type="dt" sz="half" idx="10"/>
          </p:nvPr>
        </p:nvSpPr>
        <p:spPr/>
        <p:txBody>
          <a:bodyPr/>
          <a:lstStyle/>
          <a:p>
            <a:r>
              <a:rPr lang="en-US"/>
              <a:t>16.06.2025</a:t>
            </a:r>
            <a:endParaRPr lang="de-DE"/>
          </a:p>
        </p:txBody>
      </p:sp>
      <p:sp>
        <p:nvSpPr>
          <p:cNvPr id="8" name="Footer Placeholder 7">
            <a:extLst>
              <a:ext uri="{FF2B5EF4-FFF2-40B4-BE49-F238E27FC236}">
                <a16:creationId xmlns:a16="http://schemas.microsoft.com/office/drawing/2014/main" id="{99001471-35CA-AB37-D6BE-99C7EE168D60}"/>
              </a:ext>
            </a:extLst>
          </p:cNvPr>
          <p:cNvSpPr>
            <a:spLocks noGrp="1"/>
          </p:cNvSpPr>
          <p:nvPr>
            <p:ph type="ftr" sz="quarter" idx="11"/>
          </p:nvPr>
        </p:nvSpPr>
        <p:spPr/>
        <p:txBody>
          <a:bodyPr/>
          <a:lstStyle/>
          <a:p>
            <a:r>
              <a:rPr lang="en-IN"/>
              <a:t>IDT projects | GDSPOT | SoSe 2025</a:t>
            </a:r>
            <a:endParaRPr lang="de-DE"/>
          </a:p>
        </p:txBody>
      </p:sp>
      <p:sp>
        <p:nvSpPr>
          <p:cNvPr id="9" name="Slide Number Placeholder 8">
            <a:extLst>
              <a:ext uri="{FF2B5EF4-FFF2-40B4-BE49-F238E27FC236}">
                <a16:creationId xmlns:a16="http://schemas.microsoft.com/office/drawing/2014/main" id="{51C23233-AFAB-1846-51D0-89B6309B73E6}"/>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914575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4EAE4-A806-2378-7937-CC2C50C4DD88}"/>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FD26FCD5-D686-D010-1DFA-A9FA6441BD7B}"/>
              </a:ext>
            </a:extLst>
          </p:cNvPr>
          <p:cNvSpPr>
            <a:spLocks noGrp="1"/>
          </p:cNvSpPr>
          <p:nvPr>
            <p:ph type="dt" sz="half" idx="10"/>
          </p:nvPr>
        </p:nvSpPr>
        <p:spPr/>
        <p:txBody>
          <a:bodyPr/>
          <a:lstStyle/>
          <a:p>
            <a:r>
              <a:rPr lang="en-US"/>
              <a:t>16.06.2025</a:t>
            </a:r>
            <a:endParaRPr lang="de-DE"/>
          </a:p>
        </p:txBody>
      </p:sp>
      <p:sp>
        <p:nvSpPr>
          <p:cNvPr id="4" name="Footer Placeholder 3">
            <a:extLst>
              <a:ext uri="{FF2B5EF4-FFF2-40B4-BE49-F238E27FC236}">
                <a16:creationId xmlns:a16="http://schemas.microsoft.com/office/drawing/2014/main" id="{8621BCB8-91E7-BCB8-8C9A-834F0D14F48F}"/>
              </a:ext>
            </a:extLst>
          </p:cNvPr>
          <p:cNvSpPr>
            <a:spLocks noGrp="1"/>
          </p:cNvSpPr>
          <p:nvPr>
            <p:ph type="ftr" sz="quarter" idx="11"/>
          </p:nvPr>
        </p:nvSpPr>
        <p:spPr/>
        <p:txBody>
          <a:bodyPr/>
          <a:lstStyle/>
          <a:p>
            <a:r>
              <a:rPr lang="en-IN"/>
              <a:t>IDT projects | GDSPOT | SoSe 2025</a:t>
            </a:r>
            <a:endParaRPr lang="de-DE"/>
          </a:p>
        </p:txBody>
      </p:sp>
      <p:sp>
        <p:nvSpPr>
          <p:cNvPr id="5" name="Slide Number Placeholder 4">
            <a:extLst>
              <a:ext uri="{FF2B5EF4-FFF2-40B4-BE49-F238E27FC236}">
                <a16:creationId xmlns:a16="http://schemas.microsoft.com/office/drawing/2014/main" id="{4B01205B-75E4-AAF9-0780-0F2F64564B23}"/>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274615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43B2F2-5489-0327-A5DD-B156635278CE}"/>
              </a:ext>
            </a:extLst>
          </p:cNvPr>
          <p:cNvSpPr>
            <a:spLocks noGrp="1"/>
          </p:cNvSpPr>
          <p:nvPr>
            <p:ph type="dt" sz="half" idx="10"/>
          </p:nvPr>
        </p:nvSpPr>
        <p:spPr/>
        <p:txBody>
          <a:bodyPr/>
          <a:lstStyle/>
          <a:p>
            <a:r>
              <a:rPr lang="en-US"/>
              <a:t>16.06.2025</a:t>
            </a:r>
            <a:endParaRPr lang="de-DE"/>
          </a:p>
        </p:txBody>
      </p:sp>
      <p:sp>
        <p:nvSpPr>
          <p:cNvPr id="3" name="Footer Placeholder 2">
            <a:extLst>
              <a:ext uri="{FF2B5EF4-FFF2-40B4-BE49-F238E27FC236}">
                <a16:creationId xmlns:a16="http://schemas.microsoft.com/office/drawing/2014/main" id="{0374F357-8672-549F-B045-0475DAFA841E}"/>
              </a:ext>
            </a:extLst>
          </p:cNvPr>
          <p:cNvSpPr>
            <a:spLocks noGrp="1"/>
          </p:cNvSpPr>
          <p:nvPr>
            <p:ph type="ftr" sz="quarter" idx="11"/>
          </p:nvPr>
        </p:nvSpPr>
        <p:spPr/>
        <p:txBody>
          <a:bodyPr/>
          <a:lstStyle/>
          <a:p>
            <a:r>
              <a:rPr lang="en-IN"/>
              <a:t>IDT projects | GDSPOT | SoSe 2025</a:t>
            </a:r>
            <a:endParaRPr lang="de-DE"/>
          </a:p>
        </p:txBody>
      </p:sp>
      <p:sp>
        <p:nvSpPr>
          <p:cNvPr id="4" name="Slide Number Placeholder 3">
            <a:extLst>
              <a:ext uri="{FF2B5EF4-FFF2-40B4-BE49-F238E27FC236}">
                <a16:creationId xmlns:a16="http://schemas.microsoft.com/office/drawing/2014/main" id="{680DA933-934F-9019-CBE8-7AA93CC1B9C4}"/>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87833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B843-3FF8-6E61-F970-8EADDABF44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C0816268-3D4D-9513-80C6-5DADF17E5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F191CBD6-7EB3-C146-25C2-93AC82407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BA633-3D14-E6A4-E0DE-E966029F9B02}"/>
              </a:ext>
            </a:extLst>
          </p:cNvPr>
          <p:cNvSpPr>
            <a:spLocks noGrp="1"/>
          </p:cNvSpPr>
          <p:nvPr>
            <p:ph type="dt" sz="half" idx="10"/>
          </p:nvPr>
        </p:nvSpPr>
        <p:spPr/>
        <p:txBody>
          <a:bodyPr/>
          <a:lstStyle/>
          <a:p>
            <a:r>
              <a:rPr lang="en-US"/>
              <a:t>16.06.2025</a:t>
            </a:r>
            <a:endParaRPr lang="de-DE"/>
          </a:p>
        </p:txBody>
      </p:sp>
      <p:sp>
        <p:nvSpPr>
          <p:cNvPr id="6" name="Footer Placeholder 5">
            <a:extLst>
              <a:ext uri="{FF2B5EF4-FFF2-40B4-BE49-F238E27FC236}">
                <a16:creationId xmlns:a16="http://schemas.microsoft.com/office/drawing/2014/main" id="{B884A97F-1B31-B51A-0B04-C86B64AA3147}"/>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A35C7462-AFCC-21C8-FF88-5E3F734F1E59}"/>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415634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11DB-650A-DFC1-8314-48486DF0A9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FB9712BD-8D0A-6DAC-E167-760F41691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7F1CD971-81CD-66F2-AA15-72384A878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BE817-9F28-3313-EC88-EDFC39CD8D76}"/>
              </a:ext>
            </a:extLst>
          </p:cNvPr>
          <p:cNvSpPr>
            <a:spLocks noGrp="1"/>
          </p:cNvSpPr>
          <p:nvPr>
            <p:ph type="dt" sz="half" idx="10"/>
          </p:nvPr>
        </p:nvSpPr>
        <p:spPr/>
        <p:txBody>
          <a:bodyPr/>
          <a:lstStyle/>
          <a:p>
            <a:r>
              <a:rPr lang="en-US"/>
              <a:t>16.06.2025</a:t>
            </a:r>
            <a:endParaRPr lang="de-DE"/>
          </a:p>
        </p:txBody>
      </p:sp>
      <p:sp>
        <p:nvSpPr>
          <p:cNvPr id="6" name="Footer Placeholder 5">
            <a:extLst>
              <a:ext uri="{FF2B5EF4-FFF2-40B4-BE49-F238E27FC236}">
                <a16:creationId xmlns:a16="http://schemas.microsoft.com/office/drawing/2014/main" id="{1D48D7B5-D58F-40E0-015A-2218E28B9DC8}"/>
              </a:ext>
            </a:extLst>
          </p:cNvPr>
          <p:cNvSpPr>
            <a:spLocks noGrp="1"/>
          </p:cNvSpPr>
          <p:nvPr>
            <p:ph type="ftr" sz="quarter" idx="11"/>
          </p:nvPr>
        </p:nvSpPr>
        <p:spPr/>
        <p:txBody>
          <a:bodyPr/>
          <a:lstStyle/>
          <a:p>
            <a:r>
              <a:rPr lang="en-IN"/>
              <a:t>IDT projects | GDSPOT | SoSe 2025</a:t>
            </a:r>
            <a:endParaRPr lang="de-DE"/>
          </a:p>
        </p:txBody>
      </p:sp>
      <p:sp>
        <p:nvSpPr>
          <p:cNvPr id="7" name="Slide Number Placeholder 6">
            <a:extLst>
              <a:ext uri="{FF2B5EF4-FFF2-40B4-BE49-F238E27FC236}">
                <a16:creationId xmlns:a16="http://schemas.microsoft.com/office/drawing/2014/main" id="{915A3BEA-AF88-4DB0-7E2D-308A975F715A}"/>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86815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B2B9-D4F7-E05A-2538-2514E66D3FA1}"/>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B5A25053-526B-2453-4B4D-31A89310EE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39174D61-7A95-06DE-FEDA-08D8E6620DC5}"/>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399D82B3-B109-2E87-0370-0FF8B071C346}"/>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6D42EDBB-F41C-858C-1DE8-214B2B1217FE}"/>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306683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3AAF7F-1521-C5D0-DC09-598C7E2041B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0BE469D-313D-0EDA-A68E-4BAA72CCAA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453C50D-31BF-2EC7-5B32-3D0CFB8C898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4863930A-9642-F16D-4D8E-A61FA6F79D1B}"/>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20772843-4F48-BAB3-5E5C-ECFEC750A19D}"/>
              </a:ext>
            </a:extLst>
          </p:cNvPr>
          <p:cNvSpPr>
            <a:spLocks noGrp="1"/>
          </p:cNvSpPr>
          <p:nvPr>
            <p:ph type="sldNum" sz="quarter" idx="12"/>
          </p:nvPr>
        </p:nvSpPr>
        <p:spPr/>
        <p:txBody>
          <a:bodyPr/>
          <a:lstStyle/>
          <a:p>
            <a:fld id="{516988D0-1470-4690-BDE1-E3A50181EF78}" type="slidenum">
              <a:rPr lang="de-DE" smtClean="0"/>
              <a:t>‹#›</a:t>
            </a:fld>
            <a:endParaRPr lang="de-DE"/>
          </a:p>
        </p:txBody>
      </p:sp>
    </p:spTree>
    <p:extLst>
      <p:ext uri="{BB962C8B-B14F-4D97-AF65-F5344CB8AC3E}">
        <p14:creationId xmlns:p14="http://schemas.microsoft.com/office/powerpoint/2010/main" val="291414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4FDADA-2070-7993-7B46-CBAA5B5F1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9609A4C-9366-44F5-CAC5-B16EB217B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065DBDD5-2629-A869-6CFC-EAE30DBE1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16.06.2025</a:t>
            </a:r>
            <a:endParaRPr lang="de-DE"/>
          </a:p>
        </p:txBody>
      </p:sp>
      <p:sp>
        <p:nvSpPr>
          <p:cNvPr id="5" name="Footer Placeholder 4">
            <a:extLst>
              <a:ext uri="{FF2B5EF4-FFF2-40B4-BE49-F238E27FC236}">
                <a16:creationId xmlns:a16="http://schemas.microsoft.com/office/drawing/2014/main" id="{1C93A8C1-C708-09D9-B07B-85490C617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53F98445-91FC-D90C-4BDF-F735969D03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6988D0-1470-4690-BDE1-E3A50181EF78}" type="slidenum">
              <a:rPr lang="de-DE" smtClean="0"/>
              <a:t>‹#›</a:t>
            </a:fld>
            <a:endParaRPr lang="de-DE"/>
          </a:p>
        </p:txBody>
      </p:sp>
    </p:spTree>
    <p:extLst>
      <p:ext uri="{BB962C8B-B14F-4D97-AF65-F5344CB8AC3E}">
        <p14:creationId xmlns:p14="http://schemas.microsoft.com/office/powerpoint/2010/main" val="652868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hyperlink" Target="https://grpc.i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hyperlink" Target="https://en.wikipedia.org/wiki/Remote_procedure_call" TargetMode="Externa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hyperlink" Target="https://grpc.io/docs/what-is-grpc/core-concep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hyperlink" Target="https://dev.bostondynamics.com/docs/concepts/robot_servic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bhishekdilippatil/spot-sdk.gi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ev.bostondynamics.com/docs/concepts/networking" TargetMode="External"/><Relationship Id="rId7" Type="http://schemas.openxmlformats.org/officeDocument/2006/relationships/hyperlink" Target="https://protobuf.dev/overview" TargetMode="External"/><Relationship Id="rId2" Type="http://schemas.openxmlformats.org/officeDocument/2006/relationships/hyperlink" Target="https://dev.bostondynamics.com/docs/concepts/robot_services" TargetMode="External"/><Relationship Id="rId1" Type="http://schemas.openxmlformats.org/officeDocument/2006/relationships/slideLayout" Target="../slideLayouts/slideLayout2.xml"/><Relationship Id="rId6" Type="http://schemas.openxmlformats.org/officeDocument/2006/relationships/hyperlink" Target="https://grpc.io/docs/what-is-grpc/core-concepts" TargetMode="External"/><Relationship Id="rId5" Type="http://schemas.openxmlformats.org/officeDocument/2006/relationships/hyperlink" Target="https://grpc.io/docs/what-is-grpc/introduction" TargetMode="External"/><Relationship Id="rId4" Type="http://schemas.openxmlformats.org/officeDocument/2006/relationships/hyperlink" Target="https://dev.bostondynamics.com/docs/payload/coreio_document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8B8A-406C-7692-3937-2786B92BE7E0}"/>
              </a:ext>
            </a:extLst>
          </p:cNvPr>
          <p:cNvSpPr>
            <a:spLocks noGrp="1"/>
          </p:cNvSpPr>
          <p:nvPr>
            <p:ph type="ctrTitle"/>
          </p:nvPr>
        </p:nvSpPr>
        <p:spPr/>
        <p:txBody>
          <a:bodyPr anchor="ctr">
            <a:noAutofit/>
          </a:bodyPr>
          <a:lstStyle/>
          <a:p>
            <a:r>
              <a:rPr lang="de-DE" sz="4000" dirty="0">
                <a:latin typeface="Times New Roman" panose="02020603050405020304" pitchFamily="18" charset="0"/>
                <a:cs typeface="Times New Roman" panose="02020603050405020304" pitchFamily="18" charset="0"/>
              </a:rPr>
              <a:t>Understanding </a:t>
            </a:r>
            <a:r>
              <a:rPr lang="en-IN" sz="4000" dirty="0">
                <a:latin typeface="Times New Roman" panose="02020603050405020304" pitchFamily="18" charset="0"/>
                <a:cs typeface="Times New Roman" panose="02020603050405020304" pitchFamily="18" charset="0"/>
              </a:rPr>
              <a:t>of</a:t>
            </a:r>
            <a:r>
              <a:rPr lang="de-DE" sz="4000" dirty="0">
                <a:latin typeface="Times New Roman" panose="02020603050405020304" pitchFamily="18" charset="0"/>
                <a:cs typeface="Times New Roman" panose="02020603050405020304" pitchFamily="18" charset="0"/>
              </a:rPr>
              <a:t> SPOT </a:t>
            </a:r>
            <a:r>
              <a:rPr lang="en-IN" sz="4000" dirty="0">
                <a:latin typeface="Times New Roman" panose="02020603050405020304" pitchFamily="18" charset="0"/>
                <a:cs typeface="Times New Roman" panose="02020603050405020304" pitchFamily="18" charset="0"/>
              </a:rPr>
              <a:t>communication</a:t>
            </a:r>
            <a:endParaRPr lang="de-DE"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F257C41-6CF9-7331-7745-E54B30332836}"/>
              </a:ext>
            </a:extLst>
          </p:cNvPr>
          <p:cNvSpPr>
            <a:spLocks noGrp="1"/>
          </p:cNvSpPr>
          <p:nvPr>
            <p:ph type="subTitle" idx="1"/>
          </p:nvPr>
        </p:nvSpPr>
        <p:spPr/>
        <p:txBody>
          <a:bodyPr/>
          <a:lstStyle/>
          <a:p>
            <a:r>
              <a:rPr lang="de-DE" dirty="0" err="1">
                <a:latin typeface="Times New Roman" panose="02020603050405020304" pitchFamily="18" charset="0"/>
                <a:cs typeface="Times New Roman" panose="02020603050405020304" pitchFamily="18" charset="0"/>
              </a:rPr>
              <a:t>Niraj</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Kishor</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Ladhe</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Abhishek Dilip Patil</a:t>
            </a:r>
          </a:p>
        </p:txBody>
      </p:sp>
      <p:sp>
        <p:nvSpPr>
          <p:cNvPr id="4" name="Date Placeholder 3">
            <a:extLst>
              <a:ext uri="{FF2B5EF4-FFF2-40B4-BE49-F238E27FC236}">
                <a16:creationId xmlns:a16="http://schemas.microsoft.com/office/drawing/2014/main" id="{D770A58F-60C2-2B31-0465-A6BA2564345C}"/>
              </a:ext>
            </a:extLst>
          </p:cNvPr>
          <p:cNvSpPr>
            <a:spLocks noGrp="1"/>
          </p:cNvSpPr>
          <p:nvPr>
            <p:ph type="dt" sz="half" idx="10"/>
          </p:nvPr>
        </p:nvSpPr>
        <p:spPr/>
        <p:txBody>
          <a:bodyPr/>
          <a:lstStyle/>
          <a:p>
            <a:r>
              <a:rPr lang="en-US"/>
              <a:t>16.06.2025</a:t>
            </a:r>
            <a:endParaRPr lang="de-DE" dirty="0"/>
          </a:p>
        </p:txBody>
      </p:sp>
      <p:sp>
        <p:nvSpPr>
          <p:cNvPr id="5" name="Footer Placeholder 4">
            <a:extLst>
              <a:ext uri="{FF2B5EF4-FFF2-40B4-BE49-F238E27FC236}">
                <a16:creationId xmlns:a16="http://schemas.microsoft.com/office/drawing/2014/main" id="{19A31D67-A6CD-37E2-F992-44ED5F5D6B85}"/>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347CF151-7305-54A9-290E-D3D192A1C604}"/>
              </a:ext>
            </a:extLst>
          </p:cNvPr>
          <p:cNvSpPr>
            <a:spLocks noGrp="1"/>
          </p:cNvSpPr>
          <p:nvPr>
            <p:ph type="sldNum" sz="quarter" idx="12"/>
          </p:nvPr>
        </p:nvSpPr>
        <p:spPr/>
        <p:txBody>
          <a:bodyPr/>
          <a:lstStyle/>
          <a:p>
            <a:fld id="{516988D0-1470-4690-BDE1-E3A50181EF78}" type="slidenum">
              <a:rPr lang="de-DE" smtClean="0"/>
              <a:t>1</a:t>
            </a:fld>
            <a:endParaRPr lang="de-DE"/>
          </a:p>
        </p:txBody>
      </p:sp>
    </p:spTree>
    <p:extLst>
      <p:ext uri="{BB962C8B-B14F-4D97-AF65-F5344CB8AC3E}">
        <p14:creationId xmlns:p14="http://schemas.microsoft.com/office/powerpoint/2010/main" val="632304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RPC (Remote Procedure Call)</a:t>
            </a:r>
            <a:endParaRPr lang="en-IN" dirty="0">
              <a:latin typeface="Times New Roman" panose="02020603050405020304" pitchFamily="18" charset="0"/>
              <a:cs typeface="Times New Roman" panose="02020603050405020304" pitchFamily="18" charset="0"/>
            </a:endParaRPr>
          </a:p>
        </p:txBody>
      </p:sp>
      <p:pic>
        <p:nvPicPr>
          <p:cNvPr id="10" name="Content Placeholder 9">
            <a:hlinkClick r:id="rId3" action="ppaction://hlinksldjump"/>
            <a:extLst>
              <a:ext uri="{FF2B5EF4-FFF2-40B4-BE49-F238E27FC236}">
                <a16:creationId xmlns:a16="http://schemas.microsoft.com/office/drawing/2014/main" id="{CF4847C5-CEBD-EF31-E54F-432F9BB97D3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233399" y="1690688"/>
            <a:ext cx="7753350" cy="4665662"/>
          </a:xfrm>
        </p:spPr>
      </p:pic>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2</a:t>
            </a:fld>
            <a:endParaRPr lang="de-DE"/>
          </a:p>
        </p:txBody>
      </p:sp>
    </p:spTree>
    <p:extLst>
      <p:ext uri="{BB962C8B-B14F-4D97-AF65-F5344CB8AC3E}">
        <p14:creationId xmlns:p14="http://schemas.microsoft.com/office/powerpoint/2010/main" val="327376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gRPC</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The open source RPC framework developed by google.</a:t>
            </a:r>
          </a:p>
          <a:p>
            <a:r>
              <a:rPr lang="en-IN" dirty="0">
                <a:latin typeface="Times New Roman" panose="02020603050405020304" pitchFamily="18" charset="0"/>
                <a:cs typeface="Times New Roman" panose="02020603050405020304" pitchFamily="18" charset="0"/>
              </a:rPr>
              <a:t>The clients and the server are connected using this framework</a:t>
            </a:r>
          </a:p>
          <a:p>
            <a:r>
              <a:rPr lang="en-IN" dirty="0">
                <a:latin typeface="Times New Roman" panose="02020603050405020304" pitchFamily="18" charset="0"/>
                <a:cs typeface="Times New Roman" panose="02020603050405020304" pitchFamily="18" charset="0"/>
              </a:rPr>
              <a:t>In our case, the SPOT robot is the server and the client can be either the tablet or any connected PC.</a:t>
            </a:r>
          </a:p>
          <a:p>
            <a:r>
              <a:rPr lang="en-IN" dirty="0">
                <a:latin typeface="Times New Roman" panose="02020603050405020304" pitchFamily="18" charset="0"/>
                <a:cs typeface="Times New Roman" panose="02020603050405020304" pitchFamily="18" charset="0"/>
              </a:rPr>
              <a:t>Protocol buffers are used to communicate. Protocol Buffers are a language-neutral, platform-neutral extensible mechanism for serializing structured data.</a:t>
            </a:r>
            <a:r>
              <a:rPr lang="en-IN" baseline="-25000" dirty="0">
                <a:latin typeface="Times New Roman" panose="02020603050405020304" pitchFamily="18" charset="0"/>
                <a:cs typeface="Times New Roman" panose="02020603050405020304" pitchFamily="18" charset="0"/>
                <a:hlinkClick r:id="rId3" action="ppaction://hlinksldjump"/>
              </a:rPr>
              <a:t>[5]</a:t>
            </a:r>
            <a:r>
              <a:rPr lang="en-IN" dirty="0">
                <a:latin typeface="Times New Roman" panose="02020603050405020304" pitchFamily="18" charset="0"/>
                <a:cs typeface="Times New Roman" panose="02020603050405020304" pitchFamily="18" charset="0"/>
              </a:rPr>
              <a:t> Google’s mature open source mechanism for serializing structured data.</a:t>
            </a:r>
            <a:r>
              <a:rPr lang="en-IN" baseline="-25000" dirty="0">
                <a:latin typeface="Times New Roman" panose="02020603050405020304" pitchFamily="18" charset="0"/>
                <a:cs typeface="Times New Roman" panose="02020603050405020304" pitchFamily="18" charset="0"/>
                <a:hlinkClick r:id="rId3" action="ppaction://hlinksldjump"/>
              </a:rPr>
              <a:t>[3]</a:t>
            </a:r>
            <a:endParaRPr lang="en-IN" baseline="-25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protocol buffers are defined using “.proto” extension definition files.  The structure for the data is defined in this file.</a:t>
            </a:r>
            <a:r>
              <a:rPr lang="en-IN" baseline="-25000" dirty="0">
                <a:latin typeface="Times New Roman" panose="02020603050405020304" pitchFamily="18" charset="0"/>
                <a:cs typeface="Times New Roman" panose="02020603050405020304" pitchFamily="18" charset="0"/>
                <a:hlinkClick r:id="rId3" action="ppaction://hlinksldjump"/>
              </a:rPr>
              <a:t> [3]</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 protocol buffer compiler (</a:t>
            </a:r>
            <a:r>
              <a:rPr lang="en-IN" dirty="0" err="1">
                <a:latin typeface="Times New Roman" panose="02020603050405020304" pitchFamily="18" charset="0"/>
                <a:cs typeface="Times New Roman" panose="02020603050405020304" pitchFamily="18" charset="0"/>
              </a:rPr>
              <a:t>protoc</a:t>
            </a:r>
            <a:r>
              <a:rPr lang="en-IN" dirty="0">
                <a:latin typeface="Times New Roman" panose="02020603050405020304" pitchFamily="18" charset="0"/>
                <a:cs typeface="Times New Roman" panose="02020603050405020304" pitchFamily="18" charset="0"/>
              </a:rPr>
              <a:t>) generates data access classes in your preferred language(s) from your proto definition.</a:t>
            </a:r>
            <a:r>
              <a:rPr lang="en-IN" baseline="-25000" dirty="0">
                <a:latin typeface="Times New Roman" panose="02020603050405020304" pitchFamily="18" charset="0"/>
                <a:cs typeface="Times New Roman" panose="02020603050405020304" pitchFamily="18" charset="0"/>
                <a:hlinkClick r:id="rId3" action="ppaction://hlinksldjump"/>
              </a:rPr>
              <a:t>[3]</a:t>
            </a:r>
            <a:endParaRPr lang="en-IN" baseline="-25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3</a:t>
            </a:fld>
            <a:endParaRPr lang="de-DE" dirty="0"/>
          </a:p>
        </p:txBody>
      </p:sp>
    </p:spTree>
    <p:extLst>
      <p:ext uri="{BB962C8B-B14F-4D97-AF65-F5344CB8AC3E}">
        <p14:creationId xmlns:p14="http://schemas.microsoft.com/office/powerpoint/2010/main" val="3070742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RPC (Remote Procedure Call)</a:t>
            </a:r>
            <a:endParaRPr lang="en-IN" dirty="0">
              <a:latin typeface="Times New Roman" panose="02020603050405020304" pitchFamily="18" charset="0"/>
              <a:cs typeface="Times New Roman" panose="02020603050405020304" pitchFamily="18" charset="0"/>
            </a:endParaRPr>
          </a:p>
        </p:txBody>
      </p:sp>
      <p:pic>
        <p:nvPicPr>
          <p:cNvPr id="10" name="Content Placeholder 9">
            <a:hlinkClick r:id="rId3" action="ppaction://hlinksldjump"/>
            <a:extLst>
              <a:ext uri="{FF2B5EF4-FFF2-40B4-BE49-F238E27FC236}">
                <a16:creationId xmlns:a16="http://schemas.microsoft.com/office/drawing/2014/main" id="{CF4847C5-CEBD-EF31-E54F-432F9BB97D3C}"/>
              </a:ext>
            </a:extLst>
          </p:cNvPr>
          <p:cNvPicPr>
            <a:picLocks noGrp="1" noChangeAspect="1"/>
          </p:cNvPicPr>
          <p:nvPr>
            <p:ph idx="1"/>
          </p:nvPr>
        </p:nvPicPr>
        <p:blipFill>
          <a:blip r:embed="rId4">
            <a:extLst>
              <a:ext uri="{96DAC541-7B7A-43D3-8B79-37D633B846F1}">
                <asvg:svgBlip xmlns:asvg="http://schemas.microsoft.com/office/drawing/2016/SVG/main" r:embed="rId5"/>
              </a:ext>
            </a:extLst>
          </a:blip>
          <a:srcRect/>
          <a:stretch/>
        </p:blipFill>
        <p:spPr>
          <a:xfrm>
            <a:off x="2233399" y="1690688"/>
            <a:ext cx="7753350" cy="4665662"/>
          </a:xfrm>
        </p:spPr>
      </p:pic>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4</a:t>
            </a:fld>
            <a:endParaRPr lang="de-DE"/>
          </a:p>
        </p:txBody>
      </p:sp>
    </p:spTree>
    <p:extLst>
      <p:ext uri="{BB962C8B-B14F-4D97-AF65-F5344CB8AC3E}">
        <p14:creationId xmlns:p14="http://schemas.microsoft.com/office/powerpoint/2010/main" val="415895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gRPC Service definition</a:t>
            </a:r>
            <a:r>
              <a:rPr lang="en-IN" baseline="-25000" dirty="0">
                <a:latin typeface="Times New Roman" panose="02020603050405020304" pitchFamily="18" charset="0"/>
                <a:cs typeface="Times New Roman" panose="02020603050405020304" pitchFamily="18" charset="0"/>
                <a:hlinkClick r:id="rId3" action="ppaction://hlinksldjump"/>
              </a:rPr>
              <a:t>[4]</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fontScale="85000" lnSpcReduction="10000"/>
          </a:bodyPr>
          <a:lstStyle/>
          <a:p>
            <a:r>
              <a:rPr lang="en-IN" dirty="0">
                <a:latin typeface="Times New Roman" panose="02020603050405020304" pitchFamily="18" charset="0"/>
                <a:cs typeface="Times New Roman" panose="02020603050405020304" pitchFamily="18" charset="0"/>
              </a:rPr>
              <a:t>gRPC has four kinds of service methods:</a:t>
            </a:r>
          </a:p>
          <a:p>
            <a:pPr lvl="1"/>
            <a:r>
              <a:rPr lang="en-IN" dirty="0">
                <a:latin typeface="Times New Roman" panose="02020603050405020304" pitchFamily="18" charset="0"/>
                <a:cs typeface="Times New Roman" panose="02020603050405020304" pitchFamily="18" charset="0"/>
              </a:rPr>
              <a:t>Unary RPCs where the client sends a single request to the server and gets a single response back, just like a normal function call.</a:t>
            </a:r>
          </a:p>
          <a:p>
            <a:pPr lvl="1"/>
            <a:r>
              <a:rPr lang="en-IN" dirty="0">
                <a:latin typeface="Times New Roman" panose="02020603050405020304" pitchFamily="18" charset="0"/>
                <a:cs typeface="Times New Roman" panose="02020603050405020304" pitchFamily="18" charset="0"/>
              </a:rPr>
              <a:t>Server streaming RPCs where the client sends a request to the server and gets a stream to read a sequence of messages back. The client reads from the returned stream until there are no more messages. gRPC guarantees message ordering within an individual RPC call.</a:t>
            </a:r>
          </a:p>
          <a:p>
            <a:pPr lvl="1"/>
            <a:r>
              <a:rPr lang="en-IN" dirty="0">
                <a:latin typeface="Times New Roman" panose="02020603050405020304" pitchFamily="18" charset="0"/>
                <a:cs typeface="Times New Roman" panose="02020603050405020304" pitchFamily="18" charset="0"/>
              </a:rPr>
              <a:t>Client streaming RPCs where the client writes a sequence of messages and sends them to the server, again using a provided stream. Once the client has finished writing the messages, it waits for the server to read them and return its response. Again gRPC guarantees message ordering within an individual RPC call.</a:t>
            </a:r>
          </a:p>
          <a:p>
            <a:pPr lvl="1"/>
            <a:r>
              <a:rPr lang="en-IN" dirty="0">
                <a:latin typeface="Times New Roman" panose="02020603050405020304" pitchFamily="18" charset="0"/>
                <a:cs typeface="Times New Roman" panose="02020603050405020304" pitchFamily="18" charset="0"/>
              </a:rPr>
              <a:t>Bidirectional streaming RPCs where both sides send a sequence of messages using a read-write stream. The two streams operate independently, so clients and servers can read and write in whatever order they like: for example, the server could wait to receive all the client messages before writing its responses, or it could alternately read a message then write a message, or some other combination of reads and writes. The order of messages in each stream is preserved.</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5</a:t>
            </a:fld>
            <a:endParaRPr lang="de-DE" dirty="0"/>
          </a:p>
        </p:txBody>
      </p:sp>
    </p:spTree>
    <p:extLst>
      <p:ext uri="{BB962C8B-B14F-4D97-AF65-F5344CB8AC3E}">
        <p14:creationId xmlns:p14="http://schemas.microsoft.com/office/powerpoint/2010/main" val="1337542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Basic Programme</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6</a:t>
            </a:fld>
            <a:endParaRPr lang="de-DE" dirty="0"/>
          </a:p>
        </p:txBody>
      </p:sp>
      <p:pic>
        <p:nvPicPr>
          <p:cNvPr id="1026" name="Picture 2" descr="Generated image">
            <a:extLst>
              <a:ext uri="{FF2B5EF4-FFF2-40B4-BE49-F238E27FC236}">
                <a16:creationId xmlns:a16="http://schemas.microsoft.com/office/drawing/2014/main" id="{1DC6B9E6-4F90-D60F-6C01-696225C8E4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20331" y="1690688"/>
            <a:ext cx="435133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089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hlinkClick r:id="rId2"/>
              </a:rPr>
              <a:t>Robot services</a:t>
            </a:r>
            <a:r>
              <a:rPr lang="en-IN" baseline="-25000" dirty="0">
                <a:latin typeface="Times New Roman" panose="02020603050405020304" pitchFamily="18" charset="0"/>
                <a:cs typeface="Times New Roman" panose="02020603050405020304" pitchFamily="18" charset="0"/>
                <a:hlinkClick r:id="rId3" action="ppaction://hlinksldjump"/>
              </a:rPr>
              <a:t>[1]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gRPC specifies the service interfaces and remote procedure calls (RPCs) supported by the service. For example, the Spot API has an authentication service to check the passed in username and password and returns a session token if they are valid.</a:t>
            </a:r>
            <a:r>
              <a:rPr lang="en-IN" baseline="-25000" dirty="0">
                <a:latin typeface="Times New Roman" panose="02020603050405020304" pitchFamily="18" charset="0"/>
                <a:cs typeface="Times New Roman" panose="02020603050405020304" pitchFamily="18" charset="0"/>
                <a:hlinkClick r:id="rId3" action="ppaction://hlinksldjump"/>
              </a:rPr>
              <a:t>[2]</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Services used in the basic program:</a:t>
            </a:r>
          </a:p>
          <a:p>
            <a:pPr lvl="1"/>
            <a:r>
              <a:rPr lang="en-IN" dirty="0">
                <a:latin typeface="Times New Roman" panose="02020603050405020304" pitchFamily="18" charset="0"/>
                <a:cs typeface="Times New Roman" panose="02020603050405020304" pitchFamily="18" charset="0"/>
              </a:rPr>
              <a:t>Base services: robot-id, auth, estop, time-sync, lease, robot state service, keep alive.</a:t>
            </a:r>
          </a:p>
          <a:p>
            <a:pPr lvl="1"/>
            <a:r>
              <a:rPr lang="en-IN" dirty="0">
                <a:latin typeface="Times New Roman" panose="02020603050405020304" pitchFamily="18" charset="0"/>
                <a:cs typeface="Times New Roman" panose="02020603050405020304" pitchFamily="18" charset="0"/>
              </a:rPr>
              <a:t>Other services: basic command (contains basic commands like sit or stand), image services.</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7</a:t>
            </a:fld>
            <a:endParaRPr lang="de-DE" dirty="0"/>
          </a:p>
        </p:txBody>
      </p:sp>
    </p:spTree>
    <p:extLst>
      <p:ext uri="{BB962C8B-B14F-4D97-AF65-F5344CB8AC3E}">
        <p14:creationId xmlns:p14="http://schemas.microsoft.com/office/powerpoint/2010/main" val="108363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Basic Programme</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The basic programme mostly uses the base services required to keep the connection from breaking from a client.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other services are to either make the robot stand or sit and also take an image.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All of these services are called to perform a specific action that belongs to that service.  For e.g.  Taking or leaving the lease belongs to the lease service.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Most of the base actions performed in the programme are supported by the services. It ranges from estop to making the robot stand and sit.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For the display of image, the image capture is part of the service, although the code to display or save the image is only at the client end.</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dirty="0"/>
              <a:t>IDT projects | GDSPOT | </a:t>
            </a:r>
            <a:r>
              <a:rPr lang="en-IN" dirty="0" err="1"/>
              <a:t>SoSe</a:t>
            </a:r>
            <a:r>
              <a:rPr lang="en-IN" dirty="0"/>
              <a:t> 2025</a:t>
            </a:r>
            <a:endParaRPr lang="de-DE" dirty="0"/>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8</a:t>
            </a:fld>
            <a:endParaRPr lang="de-DE" dirty="0"/>
          </a:p>
        </p:txBody>
      </p:sp>
    </p:spTree>
    <p:extLst>
      <p:ext uri="{BB962C8B-B14F-4D97-AF65-F5344CB8AC3E}">
        <p14:creationId xmlns:p14="http://schemas.microsoft.com/office/powerpoint/2010/main" val="3777955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General understanding of how the sample programs work</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a:xfrm>
            <a:off x="838200" y="1825625"/>
            <a:ext cx="8564128" cy="4351338"/>
          </a:xfrm>
        </p:spPr>
        <p:txBody>
          <a:bodyPr>
            <a:normAutofit fontScale="550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All the packages needed to run the SDK and the RPC buffers must be downloaded by referring the SPOT SDK – SPOT documentation.</a:t>
            </a: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SDK requires python code generated from original proto files with the help of </a:t>
            </a:r>
            <a:r>
              <a:rPr lang="en-IN" dirty="0" err="1">
                <a:latin typeface="Times New Roman" panose="02020603050405020304" pitchFamily="18" charset="0"/>
                <a:cs typeface="Times New Roman" panose="02020603050405020304" pitchFamily="18" charset="0"/>
              </a:rPr>
              <a:t>protobuf</a:t>
            </a:r>
            <a:r>
              <a:rPr lang="en-IN" dirty="0">
                <a:latin typeface="Times New Roman" panose="02020603050405020304" pitchFamily="18" charset="0"/>
                <a:cs typeface="Times New Roman" panose="02020603050405020304" pitchFamily="18" charset="0"/>
              </a:rPr>
              <a:t> compiler.  As proto files only contains definitions in language-neutral format, this python code generated by the compiler has the logic for serialization/deserialization of the logic which converts Python objects to </a:t>
            </a:r>
            <a:r>
              <a:rPr lang="en-IN" dirty="0" err="1">
                <a:latin typeface="Times New Roman" panose="02020603050405020304" pitchFamily="18" charset="0"/>
                <a:cs typeface="Times New Roman" panose="02020603050405020304" pitchFamily="18" charset="0"/>
              </a:rPr>
              <a:t>protobuf</a:t>
            </a:r>
            <a:r>
              <a:rPr lang="en-IN" dirty="0">
                <a:latin typeface="Times New Roman" panose="02020603050405020304" pitchFamily="18" charset="0"/>
                <a:cs typeface="Times New Roman" panose="02020603050405020304" pitchFamily="18" charset="0"/>
              </a:rPr>
              <a:t> binary format and vice versa.</a:t>
            </a: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The Python code in the “</a:t>
            </a:r>
            <a:r>
              <a:rPr lang="en-IN" dirty="0" err="1">
                <a:latin typeface="Times New Roman" panose="02020603050405020304" pitchFamily="18" charset="0"/>
                <a:cs typeface="Times New Roman" panose="02020603050405020304" pitchFamily="18" charset="0"/>
              </a:rPr>
              <a:t>src</a:t>
            </a:r>
            <a:r>
              <a:rPr lang="en-IN" dirty="0">
                <a:latin typeface="Times New Roman" panose="02020603050405020304" pitchFamily="18" charset="0"/>
                <a:cs typeface="Times New Roman" panose="02020603050405020304" pitchFamily="18" charset="0"/>
              </a:rPr>
              <a:t>” folder of each concept of SPOT imports the compiled python code of </a:t>
            </a:r>
            <a:r>
              <a:rPr lang="en-IN" dirty="0" err="1">
                <a:latin typeface="Times New Roman" panose="02020603050405020304" pitchFamily="18" charset="0"/>
                <a:cs typeface="Times New Roman" panose="02020603050405020304" pitchFamily="18" charset="0"/>
              </a:rPr>
              <a:t>protobuf</a:t>
            </a:r>
            <a:r>
              <a:rPr lang="en-IN" dirty="0">
                <a:latin typeface="Times New Roman" panose="02020603050405020304" pitchFamily="18" charset="0"/>
                <a:cs typeface="Times New Roman" panose="02020603050405020304" pitchFamily="18" charset="0"/>
              </a:rPr>
              <a:t> compiler.  Then the classes or the objects in these files are called in the sample programs.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For e.g. For using commands falling in </a:t>
            </a:r>
            <a:r>
              <a:rPr lang="en-IN" dirty="0" err="1">
                <a:latin typeface="Times New Roman" panose="02020603050405020304" pitchFamily="18" charset="0"/>
                <a:cs typeface="Times New Roman" panose="02020603050405020304" pitchFamily="18" charset="0"/>
              </a:rPr>
              <a:t>bosdyn</a:t>
            </a:r>
            <a:r>
              <a:rPr lang="en-IN" dirty="0">
                <a:latin typeface="Times New Roman" panose="02020603050405020304" pitchFamily="18" charset="0"/>
                <a:cs typeface="Times New Roman" panose="02020603050405020304" pitchFamily="18" charset="0"/>
              </a:rPr>
              <a:t>-client which vary from “</a:t>
            </a:r>
            <a:r>
              <a:rPr lang="en-IN" dirty="0" err="1">
                <a:latin typeface="Times New Roman" panose="02020603050405020304" pitchFamily="18" charset="0"/>
                <a:cs typeface="Times New Roman" panose="02020603050405020304" pitchFamily="18" charset="0"/>
              </a:rPr>
              <a:t>autowalk</a:t>
            </a:r>
            <a:r>
              <a:rPr lang="en-IN" dirty="0">
                <a:latin typeface="Times New Roman" panose="02020603050405020304" pitchFamily="18" charset="0"/>
                <a:cs typeface="Times New Roman" panose="02020603050405020304" pitchFamily="18" charset="0"/>
              </a:rPr>
              <a:t>”, image retrieval to “lease” and “</a:t>
            </a:r>
            <a:r>
              <a:rPr lang="en-IN" dirty="0" err="1">
                <a:latin typeface="Times New Roman" panose="02020603050405020304" pitchFamily="18" charset="0"/>
                <a:cs typeface="Times New Roman" panose="02020603050405020304" pitchFamily="18" charset="0"/>
              </a:rPr>
              <a:t>robot_id</a:t>
            </a:r>
            <a:r>
              <a:rPr lang="en-IN" dirty="0">
                <a:latin typeface="Times New Roman" panose="02020603050405020304" pitchFamily="18" charset="0"/>
                <a:cs typeface="Times New Roman" panose="02020603050405020304" pitchFamily="18" charset="0"/>
              </a:rPr>
              <a:t> commands”, one calls the definitions/functions from these python files to use those services.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The “_pb2.py” are the files which are generated using </a:t>
            </a:r>
            <a:r>
              <a:rPr lang="en-IN" dirty="0" err="1">
                <a:latin typeface="Times New Roman" panose="02020603050405020304" pitchFamily="18" charset="0"/>
                <a:cs typeface="Times New Roman" panose="02020603050405020304" pitchFamily="18" charset="0"/>
              </a:rPr>
              <a:t>protobuf</a:t>
            </a:r>
            <a:r>
              <a:rPr lang="en-IN" dirty="0">
                <a:latin typeface="Times New Roman" panose="02020603050405020304" pitchFamily="18" charset="0"/>
                <a:cs typeface="Times New Roman" panose="02020603050405020304" pitchFamily="18" charset="0"/>
              </a:rPr>
              <a:t> compiler.  THESE FILES SHOULD NOT BE EDITED!  But there can be a exception if a new “.proto” file is created by the user, then a new “_pb2.py” is needed to be complied to be used with the SDK.</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dirty="0"/>
              <a:t>IDT projects | GDSPOT | </a:t>
            </a:r>
            <a:r>
              <a:rPr lang="en-IN" dirty="0" err="1"/>
              <a:t>SoSe</a:t>
            </a:r>
            <a:r>
              <a:rPr lang="en-IN" dirty="0"/>
              <a:t> 2025</a:t>
            </a:r>
            <a:endParaRPr lang="de-DE" dirty="0"/>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9</a:t>
            </a:fld>
            <a:endParaRPr lang="de-DE" dirty="0"/>
          </a:p>
        </p:txBody>
      </p:sp>
      <p:pic>
        <p:nvPicPr>
          <p:cNvPr id="8" name="Picture 7">
            <a:extLst>
              <a:ext uri="{FF2B5EF4-FFF2-40B4-BE49-F238E27FC236}">
                <a16:creationId xmlns:a16="http://schemas.microsoft.com/office/drawing/2014/main" id="{34C5E2B1-BDD1-1EE4-C3B5-88B96A0B4853}"/>
              </a:ext>
            </a:extLst>
          </p:cNvPr>
          <p:cNvPicPr>
            <a:picLocks noChangeAspect="1"/>
          </p:cNvPicPr>
          <p:nvPr/>
        </p:nvPicPr>
        <p:blipFill>
          <a:blip r:embed="rId2"/>
          <a:stretch>
            <a:fillRect/>
          </a:stretch>
        </p:blipFill>
        <p:spPr>
          <a:xfrm>
            <a:off x="9402328" y="1825259"/>
            <a:ext cx="1951472" cy="4351704"/>
          </a:xfrm>
          <a:prstGeom prst="rect">
            <a:avLst/>
          </a:prstGeom>
        </p:spPr>
      </p:pic>
    </p:spTree>
    <p:extLst>
      <p:ext uri="{BB962C8B-B14F-4D97-AF65-F5344CB8AC3E}">
        <p14:creationId xmlns:p14="http://schemas.microsoft.com/office/powerpoint/2010/main" val="602246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Storage of the different file formats</a:t>
            </a: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a:xfrm>
            <a:off x="838200" y="1825625"/>
            <a:ext cx="8564128" cy="4351338"/>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The “_pb2.py” files are downloaded while installing the SPOT python packages and they are stored locally on the PC.</a:t>
            </a: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The “.proto” definition files are made available in the SDK.</a:t>
            </a: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The definition files are not used in real time when running the code.  The generated python files are used.</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dirty="0"/>
              <a:t>IDT projects | GDSPOT | </a:t>
            </a:r>
            <a:r>
              <a:rPr lang="en-IN" dirty="0" err="1"/>
              <a:t>SoSe</a:t>
            </a:r>
            <a:r>
              <a:rPr lang="en-IN" dirty="0"/>
              <a:t> 2025</a:t>
            </a:r>
            <a:endParaRPr lang="de-DE" dirty="0"/>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10</a:t>
            </a:fld>
            <a:endParaRPr lang="de-DE" dirty="0"/>
          </a:p>
        </p:txBody>
      </p:sp>
      <p:pic>
        <p:nvPicPr>
          <p:cNvPr id="8" name="Picture 7">
            <a:extLst>
              <a:ext uri="{FF2B5EF4-FFF2-40B4-BE49-F238E27FC236}">
                <a16:creationId xmlns:a16="http://schemas.microsoft.com/office/drawing/2014/main" id="{34C5E2B1-BDD1-1EE4-C3B5-88B96A0B485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433480" y="1825259"/>
            <a:ext cx="1889168" cy="4351704"/>
          </a:xfrm>
          <a:prstGeom prst="rect">
            <a:avLst/>
          </a:prstGeom>
        </p:spPr>
      </p:pic>
    </p:spTree>
    <p:extLst>
      <p:ext uri="{BB962C8B-B14F-4D97-AF65-F5344CB8AC3E}">
        <p14:creationId xmlns:p14="http://schemas.microsoft.com/office/powerpoint/2010/main" val="377988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Flow chart of the process at the client end</a:t>
            </a:r>
          </a:p>
        </p:txBody>
      </p:sp>
      <p:graphicFrame>
        <p:nvGraphicFramePr>
          <p:cNvPr id="7" name="Content Placeholder 6">
            <a:extLst>
              <a:ext uri="{FF2B5EF4-FFF2-40B4-BE49-F238E27FC236}">
                <a16:creationId xmlns:a16="http://schemas.microsoft.com/office/drawing/2014/main" id="{7BD524E3-D9AA-D758-F332-B00C1132F27D}"/>
              </a:ext>
            </a:extLst>
          </p:cNvPr>
          <p:cNvGraphicFramePr>
            <a:graphicFrameLocks noGrp="1"/>
          </p:cNvGraphicFramePr>
          <p:nvPr>
            <p:ph idx="1"/>
            <p:extLst>
              <p:ext uri="{D42A27DB-BD31-4B8C-83A1-F6EECF244321}">
                <p14:modId xmlns:p14="http://schemas.microsoft.com/office/powerpoint/2010/main" val="397806029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dirty="0"/>
              <a:t>IDT projects | GDSPOT | </a:t>
            </a:r>
            <a:r>
              <a:rPr lang="en-IN" dirty="0" err="1"/>
              <a:t>SoSe</a:t>
            </a:r>
            <a:r>
              <a:rPr lang="en-IN" dirty="0"/>
              <a:t> 2025</a:t>
            </a:r>
            <a:endParaRPr lang="de-DE" dirty="0"/>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11</a:t>
            </a:fld>
            <a:endParaRPr lang="de-DE" dirty="0"/>
          </a:p>
        </p:txBody>
      </p:sp>
    </p:spTree>
    <p:extLst>
      <p:ext uri="{BB962C8B-B14F-4D97-AF65-F5344CB8AC3E}">
        <p14:creationId xmlns:p14="http://schemas.microsoft.com/office/powerpoint/2010/main" val="3958922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67D6-2E50-9C27-60E9-67AD400B5064}"/>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Core I/O </a:t>
            </a:r>
            <a:r>
              <a:rPr lang="en-IN" baseline="-25000" dirty="0">
                <a:latin typeface="Times New Roman" panose="02020603050405020304" pitchFamily="18" charset="0"/>
                <a:cs typeface="Times New Roman" panose="02020603050405020304" pitchFamily="18" charset="0"/>
                <a:hlinkClick r:id="rId2" action="ppaction://hlinksldjump"/>
              </a:rPr>
              <a:t>[6]</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DEB8F0-937E-69A5-7A1A-CEC12D0B006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Core I/O has read-only root filesystem.  But it has read-write partitions for user data and applications.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However the attempts made to connect to Core I/O via SSH were unsuccessful.  Still a docker file is created to better understand the working.</a:t>
            </a:r>
          </a:p>
        </p:txBody>
      </p:sp>
      <p:sp>
        <p:nvSpPr>
          <p:cNvPr id="4" name="Date Placeholder 3">
            <a:extLst>
              <a:ext uri="{FF2B5EF4-FFF2-40B4-BE49-F238E27FC236}">
                <a16:creationId xmlns:a16="http://schemas.microsoft.com/office/drawing/2014/main" id="{42B5D580-9028-99B4-E463-C0142B7E3ABC}"/>
              </a:ext>
            </a:extLst>
          </p:cNvPr>
          <p:cNvSpPr>
            <a:spLocks noGrp="1"/>
          </p:cNvSpPr>
          <p:nvPr>
            <p:ph type="dt" sz="half" idx="10"/>
          </p:nvPr>
        </p:nvSpPr>
        <p:spPr/>
        <p:txBody>
          <a:bodyPr/>
          <a:lstStyle/>
          <a:p>
            <a:r>
              <a:rPr lang="en-US"/>
              <a:t>16.06.2025</a:t>
            </a:r>
            <a:endParaRPr lang="de-DE" dirty="0"/>
          </a:p>
        </p:txBody>
      </p:sp>
      <p:sp>
        <p:nvSpPr>
          <p:cNvPr id="5" name="Footer Placeholder 4">
            <a:extLst>
              <a:ext uri="{FF2B5EF4-FFF2-40B4-BE49-F238E27FC236}">
                <a16:creationId xmlns:a16="http://schemas.microsoft.com/office/drawing/2014/main" id="{856F1670-9E32-AB37-4942-3274BCC3D0D0}"/>
              </a:ext>
            </a:extLst>
          </p:cNvPr>
          <p:cNvSpPr>
            <a:spLocks noGrp="1"/>
          </p:cNvSpPr>
          <p:nvPr>
            <p:ph type="ftr" sz="quarter" idx="11"/>
          </p:nvPr>
        </p:nvSpPr>
        <p:spPr/>
        <p:txBody>
          <a:bodyPr/>
          <a:lstStyle/>
          <a:p>
            <a:r>
              <a:rPr lang="en-IN" dirty="0"/>
              <a:t>IDT projects | GDSPOT | </a:t>
            </a:r>
            <a:r>
              <a:rPr lang="en-IN" dirty="0" err="1"/>
              <a:t>SoSe</a:t>
            </a:r>
            <a:r>
              <a:rPr lang="en-IN" dirty="0"/>
              <a:t> 2025</a:t>
            </a:r>
            <a:endParaRPr lang="de-DE" dirty="0"/>
          </a:p>
        </p:txBody>
      </p:sp>
      <p:sp>
        <p:nvSpPr>
          <p:cNvPr id="6" name="Slide Number Placeholder 5">
            <a:extLst>
              <a:ext uri="{FF2B5EF4-FFF2-40B4-BE49-F238E27FC236}">
                <a16:creationId xmlns:a16="http://schemas.microsoft.com/office/drawing/2014/main" id="{E0DDE311-F27F-F537-94EA-6E603010ADA5}"/>
              </a:ext>
            </a:extLst>
          </p:cNvPr>
          <p:cNvSpPr>
            <a:spLocks noGrp="1"/>
          </p:cNvSpPr>
          <p:nvPr>
            <p:ph type="sldNum" sz="quarter" idx="12"/>
          </p:nvPr>
        </p:nvSpPr>
        <p:spPr/>
        <p:txBody>
          <a:bodyPr/>
          <a:lstStyle/>
          <a:p>
            <a:fld id="{516988D0-1470-4690-BDE1-E3A50181EF78}" type="slidenum">
              <a:rPr lang="de-DE" smtClean="0"/>
              <a:t>12</a:t>
            </a:fld>
            <a:endParaRPr lang="de-DE" dirty="0"/>
          </a:p>
        </p:txBody>
      </p:sp>
    </p:spTree>
    <p:extLst>
      <p:ext uri="{BB962C8B-B14F-4D97-AF65-F5344CB8AC3E}">
        <p14:creationId xmlns:p14="http://schemas.microsoft.com/office/powerpoint/2010/main" val="454294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t>Git </a:t>
            </a:r>
            <a:r>
              <a:rPr lang="en-IN" dirty="0">
                <a:latin typeface="Times New Roman" panose="02020603050405020304" pitchFamily="18" charset="0"/>
                <a:cs typeface="Times New Roman" panose="02020603050405020304" pitchFamily="18" charset="0"/>
              </a:rPr>
              <a:t>repository</a:t>
            </a:r>
            <a:r>
              <a:rPr lang="en-IN" dirty="0"/>
              <a:t> link:</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hlinkClick r:id="rId2"/>
              </a:rPr>
              <a:t>https://github.com/abhishekdilippatil/spot-sdk.git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en-US"/>
              <a:t>16.06.2025</a:t>
            </a:r>
            <a:endParaRPr lang="de-DE"/>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13</a:t>
            </a:fld>
            <a:endParaRPr lang="de-DE"/>
          </a:p>
        </p:txBody>
      </p:sp>
    </p:spTree>
    <p:extLst>
      <p:ext uri="{BB962C8B-B14F-4D97-AF65-F5344CB8AC3E}">
        <p14:creationId xmlns:p14="http://schemas.microsoft.com/office/powerpoint/2010/main" val="547047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6FCE-F9C7-6EBA-A389-8EFFE978589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1089575-3086-3FC5-A09E-F496391BB820}"/>
              </a:ext>
            </a:extLst>
          </p:cNvPr>
          <p:cNvSpPr>
            <a:spLocks noGrp="1"/>
          </p:cNvSpPr>
          <p:nvPr>
            <p:ph idx="1"/>
          </p:nvPr>
        </p:nvSpPr>
        <p:spPr/>
        <p:txBody>
          <a:bodyPr>
            <a:normAutofit fontScale="92500"/>
          </a:bodyPr>
          <a:lstStyle/>
          <a:p>
            <a:r>
              <a:rPr lang="en-IN" dirty="0">
                <a:latin typeface="Times New Roman" panose="02020603050405020304" pitchFamily="18" charset="0"/>
                <a:cs typeface="Times New Roman" panose="02020603050405020304" pitchFamily="18" charset="0"/>
              </a:rPr>
              <a:t>SPOT SDK – SPOT documentation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2"/>
              </a:rPr>
              <a:t>https://dev.bostondynamics.com/docs/concepts/robot_services</a:t>
            </a:r>
            <a:r>
              <a:rPr lang="en-IN" dirty="0">
                <a:latin typeface="Times New Roman" panose="02020603050405020304" pitchFamily="18" charset="0"/>
                <a:cs typeface="Times New Roman" panose="02020603050405020304" pitchFamily="18" charset="0"/>
              </a:rPr>
              <a:t>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3"/>
              </a:rPr>
              <a:t>https://dev.bostondynamics.com/docs/concepts/networking</a:t>
            </a:r>
            <a:r>
              <a:rPr lang="en-IN" dirty="0">
                <a:latin typeface="Times New Roman" panose="02020603050405020304" pitchFamily="18" charset="0"/>
                <a:cs typeface="Times New Roman" panose="02020603050405020304" pitchFamily="18" charset="0"/>
              </a:rPr>
              <a:t> [2]</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4"/>
              </a:rPr>
              <a:t>https://dev.bostondynamics.com/docs/payload/coreio_documentation</a:t>
            </a:r>
            <a:r>
              <a:rPr lang="en-IN" dirty="0">
                <a:latin typeface="Times New Roman" panose="02020603050405020304" pitchFamily="18" charset="0"/>
                <a:cs typeface="Times New Roman" panose="02020603050405020304" pitchFamily="18" charset="0"/>
              </a:rPr>
              <a:t> [6]</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gRPC website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5"/>
              </a:rPr>
              <a:t>https://grpc.io/docs/what-is-grpc/introduction</a:t>
            </a:r>
            <a:r>
              <a:rPr lang="en-IN" dirty="0">
                <a:latin typeface="Times New Roman" panose="02020603050405020304" pitchFamily="18" charset="0"/>
                <a:cs typeface="Times New Roman" panose="02020603050405020304" pitchFamily="18" charset="0"/>
              </a:rPr>
              <a:t> [3]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hlinkClick r:id="rId6"/>
              </a:rPr>
              <a:t>https://grpc.io/docs/what-is-grpc/core-concepts</a:t>
            </a:r>
            <a:r>
              <a:rPr lang="en-IN" dirty="0">
                <a:latin typeface="Times New Roman" panose="02020603050405020304" pitchFamily="18" charset="0"/>
                <a:cs typeface="Times New Roman" panose="02020603050405020304" pitchFamily="18" charset="0"/>
              </a:rPr>
              <a:t> [4]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hlinkClick r:id="rId7"/>
              </a:rPr>
              <a:t>https://protobuf.dev/overview</a:t>
            </a:r>
            <a:r>
              <a:rPr lang="en-IN" dirty="0">
                <a:latin typeface="Times New Roman" panose="02020603050405020304" pitchFamily="18" charset="0"/>
                <a:cs typeface="Times New Roman" panose="02020603050405020304" pitchFamily="18" charset="0"/>
              </a:rPr>
              <a:t> [5]</a:t>
            </a:r>
          </a:p>
        </p:txBody>
      </p:sp>
      <p:sp>
        <p:nvSpPr>
          <p:cNvPr id="4" name="Date Placeholder 3">
            <a:extLst>
              <a:ext uri="{FF2B5EF4-FFF2-40B4-BE49-F238E27FC236}">
                <a16:creationId xmlns:a16="http://schemas.microsoft.com/office/drawing/2014/main" id="{08B8AE87-AB29-4511-9939-306A476605B2}"/>
              </a:ext>
            </a:extLst>
          </p:cNvPr>
          <p:cNvSpPr>
            <a:spLocks noGrp="1"/>
          </p:cNvSpPr>
          <p:nvPr>
            <p:ph type="dt" sz="half" idx="10"/>
          </p:nvPr>
        </p:nvSpPr>
        <p:spPr/>
        <p:txBody>
          <a:bodyPr/>
          <a:lstStyle/>
          <a:p>
            <a:r>
              <a:rPr lang="en-US"/>
              <a:t>16.06.2025</a:t>
            </a:r>
            <a:endParaRPr lang="de-DE" dirty="0"/>
          </a:p>
        </p:txBody>
      </p:sp>
      <p:sp>
        <p:nvSpPr>
          <p:cNvPr id="5" name="Footer Placeholder 4">
            <a:extLst>
              <a:ext uri="{FF2B5EF4-FFF2-40B4-BE49-F238E27FC236}">
                <a16:creationId xmlns:a16="http://schemas.microsoft.com/office/drawing/2014/main" id="{32F2723D-598D-397A-21C9-E4062196A04F}"/>
              </a:ext>
            </a:extLst>
          </p:cNvPr>
          <p:cNvSpPr>
            <a:spLocks noGrp="1"/>
          </p:cNvSpPr>
          <p:nvPr>
            <p:ph type="ftr" sz="quarter" idx="11"/>
          </p:nvPr>
        </p:nvSpPr>
        <p:spPr/>
        <p:txBody>
          <a:bodyPr/>
          <a:lstStyle/>
          <a:p>
            <a:r>
              <a:rPr lang="en-IN"/>
              <a:t>IDT projects | GDSPOT | SoSe 2025</a:t>
            </a:r>
            <a:endParaRPr lang="de-DE"/>
          </a:p>
        </p:txBody>
      </p:sp>
      <p:sp>
        <p:nvSpPr>
          <p:cNvPr id="6" name="Slide Number Placeholder 5">
            <a:extLst>
              <a:ext uri="{FF2B5EF4-FFF2-40B4-BE49-F238E27FC236}">
                <a16:creationId xmlns:a16="http://schemas.microsoft.com/office/drawing/2014/main" id="{E84B2434-079F-4CFE-EFF5-2FDBC0D37C5F}"/>
              </a:ext>
            </a:extLst>
          </p:cNvPr>
          <p:cNvSpPr>
            <a:spLocks noGrp="1"/>
          </p:cNvSpPr>
          <p:nvPr>
            <p:ph type="sldNum" sz="quarter" idx="12"/>
          </p:nvPr>
        </p:nvSpPr>
        <p:spPr/>
        <p:txBody>
          <a:bodyPr/>
          <a:lstStyle/>
          <a:p>
            <a:fld id="{516988D0-1470-4690-BDE1-E3A50181EF78}" type="slidenum">
              <a:rPr lang="de-DE" smtClean="0"/>
              <a:t>14</a:t>
            </a:fld>
            <a:endParaRPr lang="de-DE"/>
          </a:p>
        </p:txBody>
      </p:sp>
    </p:spTree>
    <p:extLst>
      <p:ext uri="{BB962C8B-B14F-4D97-AF65-F5344CB8AC3E}">
        <p14:creationId xmlns:p14="http://schemas.microsoft.com/office/powerpoint/2010/main" val="1051072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545</TotalTime>
  <Words>1243</Words>
  <Application>Microsoft Office PowerPoint</Application>
  <PresentationFormat>Widescreen</PresentationFormat>
  <Paragraphs>108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Understanding of SPOT communication</vt:lpstr>
      <vt:lpstr>RPC (Remote Procedure Call)</vt:lpstr>
      <vt:lpstr>gRPC</vt:lpstr>
      <vt:lpstr>RPC (Remote Procedure Call)</vt:lpstr>
      <vt:lpstr>gRPC Service definition[4]</vt:lpstr>
      <vt:lpstr>Basic Programme</vt:lpstr>
      <vt:lpstr>Robot services[1]</vt:lpstr>
      <vt:lpstr>Basic Programme</vt:lpstr>
      <vt:lpstr>General understanding of how the sample programs work</vt:lpstr>
      <vt:lpstr>Storage of the different file formats</vt:lpstr>
      <vt:lpstr>Flow chart of the process at the client end</vt:lpstr>
      <vt:lpstr>Core I/O [6]</vt:lpstr>
      <vt:lpstr>Git repository link: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Dilip Patil</dc:creator>
  <cp:lastModifiedBy>Abhishek Dilip Patil</cp:lastModifiedBy>
  <cp:revision>27</cp:revision>
  <dcterms:created xsi:type="dcterms:W3CDTF">2025-05-25T11:18:27Z</dcterms:created>
  <dcterms:modified xsi:type="dcterms:W3CDTF">2025-06-16T06:38:59Z</dcterms:modified>
</cp:coreProperties>
</file>